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463040" cy="146304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463040" cy="14630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5400" b="1">
                <a:solidFill>
                  <a:srgbClr val="FFFFFF"/>
                </a:solidFill>
              </a:rPr>
              <a:t>GB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</a:rPr>
              <a:t>GymBuddy</a:t>
            </a:r>
          </a:p>
          <a:p>
            <a:pPr algn="l"/>
            <a:r>
              <a:rPr sz="2600" b="0">
                <a:solidFill>
                  <a:srgbClr val="FDBA74"/>
                </a:solidFill>
              </a:rPr>
              <a:t>Log your workouts. Find your training partner.</a:t>
            </a:r>
          </a:p>
          <a:p>
            <a:pPr algn="l">
              <a:spcBef>
                <a:spcPts val="2400"/>
              </a:spcBef>
            </a:pPr>
            <a:r>
              <a:rPr sz="1800" b="0">
                <a:solidFill>
                  <a:srgbClr val="CBD5E1"/>
                </a:solidFill>
              </a:rPr>
              <a:t>Team Project – Mobile Application in the Cloud · Lab 1</a:t>
            </a:r>
          </a:p>
          <a:p>
            <a:pPr algn="l"/>
            <a:r>
              <a:rPr sz="1800" b="0">
                <a:solidFill>
                  <a:srgbClr val="FFFFFF"/>
                </a:solidFill>
              </a:rPr>
              <a:t>Aida Ismayilova (57689)  ·  Ozodbek Tursunaliyev (57264)  ·  Elturan Valizada (58990)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73152" bIns="73152"/>
          <a:lstStyle/>
          <a:p>
            <a:pPr algn="ctr"/>
            <a:r>
              <a:rPr sz="3200" b="1">
                <a:solidFill>
                  <a:srgbClr val="FFFFFF"/>
                </a:solidFill>
              </a:rPr>
              <a:t>What is GymBuddy?</a:t>
            </a:r>
          </a:p>
          <a:p>
            <a:pPr algn="l"/>
            <a:r>
              <a:rPr sz="1500" b="0">
                <a:solidFill>
                  <a:srgbClr val="FDBA74"/>
                </a:solidFill>
              </a:rPr>
              <a:t>An Android app backed by the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97316"/>
                </a:solidFill>
              </a:rPr>
              <a:t>•  </a:t>
            </a:r>
            <a:r>
              <a:rPr sz="2200" b="1">
                <a:solidFill>
                  <a:srgbClr val="0F172A"/>
                </a:solidFill>
              </a:rPr>
              <a:t>Gym + Buddy:</a:t>
            </a:r>
            <a:r>
              <a:rPr sz="2200" b="0">
                <a:solidFill>
                  <a:srgbClr val="64748B"/>
                </a:solidFill>
              </a:rPr>
              <a:t> your workout log and your training partner finder in one app.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97316"/>
                </a:solidFill>
              </a:rPr>
              <a:t>•  </a:t>
            </a:r>
            <a:r>
              <a:rPr sz="2200" b="1">
                <a:solidFill>
                  <a:srgbClr val="0F172A"/>
                </a:solidFill>
              </a:rPr>
              <a:t>Log:</a:t>
            </a:r>
            <a:r>
              <a:rPr sz="2200" b="0">
                <a:solidFill>
                  <a:srgbClr val="64748B"/>
                </a:solidFill>
              </a:rPr>
              <a:t> record each workout (type, duration, notes) and see your history and weekly progress.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97316"/>
                </a:solidFill>
              </a:rPr>
              <a:t>•  </a:t>
            </a:r>
            <a:r>
              <a:rPr sz="2200" b="1">
                <a:solidFill>
                  <a:srgbClr val="0F172A"/>
                </a:solidFill>
              </a:rPr>
              <a:t>Find:</a:t>
            </a:r>
            <a:r>
              <a:rPr sz="2200" b="0">
                <a:solidFill>
                  <a:srgbClr val="64748B"/>
                </a:solidFill>
              </a:rPr>
              <a:t> post or join open training sessions, so you never have to train alone.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97316"/>
                </a:solidFill>
              </a:rPr>
              <a:t>•  </a:t>
            </a:r>
            <a:r>
              <a:rPr sz="2200" b="1">
                <a:solidFill>
                  <a:srgbClr val="0F172A"/>
                </a:solidFill>
              </a:rPr>
              <a:t>Cloud:</a:t>
            </a:r>
            <a:r>
              <a:rPr sz="2200" b="0">
                <a:solidFill>
                  <a:srgbClr val="64748B"/>
                </a:solidFill>
              </a:rPr>
              <a:t> everything is stored in Firebase, so your data follows you to any phone.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737360"/>
            <a:ext cx="4023360" cy="42062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ctr"/>
            <a:r>
              <a:rPr sz="2200" b="1">
                <a:solidFill>
                  <a:srgbClr val="C2410C"/>
                </a:solidFill>
              </a:rPr>
              <a:t>Why the name?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</a:rPr>
              <a:t>“Buddy” is the gym word for a training partner. People who train with a partner skip fewer sessions – so the name says what the app is for: staying consistent,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73152" bIns="73152"/>
          <a:lstStyle/>
          <a:p>
            <a:pPr algn="ctr"/>
            <a:r>
              <a:rPr sz="3200" b="1">
                <a:solidFill>
                  <a:srgbClr val="FFFFFF"/>
                </a:solidFill>
              </a:rPr>
              <a:t>The problem</a:t>
            </a:r>
          </a:p>
          <a:p>
            <a:pPr algn="l"/>
            <a:r>
              <a:rPr sz="1500" b="0">
                <a:solidFill>
                  <a:srgbClr val="FDBA74"/>
                </a:solidFill>
              </a:rPr>
              <a:t>One sentence: who has what problem, and why it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881360" cy="137160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73152" b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“Gym-goers forget what they trained and struggle to find training partners, so progress stalls and motivation drops.”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97316"/>
                </a:solidFill>
              </a:rPr>
              <a:t>•  </a:t>
            </a:r>
            <a:r>
              <a:rPr sz="2200" b="1">
                <a:solidFill>
                  <a:srgbClr val="0F172A"/>
                </a:solidFill>
              </a:rPr>
              <a:t>Today:</a:t>
            </a:r>
            <a:r>
              <a:rPr sz="2200" b="0">
                <a:solidFill>
                  <a:srgbClr val="64748B"/>
                </a:solidFill>
              </a:rPr>
              <a:t> workouts live in notes apps, memory or nowhere; partners are found by chance.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97316"/>
                </a:solidFill>
              </a:rPr>
              <a:t>•  </a:t>
            </a:r>
            <a:r>
              <a:rPr sz="2200" b="1">
                <a:solidFill>
                  <a:srgbClr val="0F172A"/>
                </a:solidFill>
              </a:rPr>
              <a:t>Impact:</a:t>
            </a:r>
            <a:r>
              <a:rPr sz="2200" b="0">
                <a:solidFill>
                  <a:srgbClr val="64748B"/>
                </a:solidFill>
              </a:rPr>
              <a:t> no visible progress and no accountability lead to people quitting.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97316"/>
                </a:solidFill>
              </a:rPr>
              <a:t>•  </a:t>
            </a:r>
            <a:r>
              <a:rPr sz="2200" b="1">
                <a:solidFill>
                  <a:srgbClr val="0F172A"/>
                </a:solidFill>
              </a:rPr>
              <a:t>Our answer:</a:t>
            </a:r>
            <a:r>
              <a:rPr sz="2200" b="0">
                <a:solidFill>
                  <a:srgbClr val="64748B"/>
                </a:solidFill>
              </a:rPr>
              <a:t> a simple cloud log plus a place to arrange sessions with others.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73152" bIns="73152"/>
          <a:lstStyle/>
          <a:p>
            <a:pPr algn="ctr"/>
            <a:r>
              <a:rPr sz="3200" b="1">
                <a:solidFill>
                  <a:srgbClr val="FFFFFF"/>
                </a:solidFill>
              </a:rPr>
              <a:t>MVP features</a:t>
            </a:r>
          </a:p>
          <a:p>
            <a:pPr algn="l"/>
            <a:r>
              <a:rPr sz="1500" b="0">
                <a:solidFill>
                  <a:srgbClr val="FDBA74"/>
                </a:solidFill>
              </a:rPr>
              <a:t>Sprint 1 = Labs 1–2, the rest is planned for later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881359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7498079"/>
                <a:gridCol w="2743200"/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Sprint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Register, log in, log out, auto-login (Firebase Authentication)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Sprint 1 (Lab 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List my workouts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Sprint 1 (Lab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Add, edit and delete a workout (detail/edit screen)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Sprint 1 (Lab 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Weekly stats calculated by a Cloud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Later (Lab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Find a partner: create and join training sessions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Later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</a:rPr>
              <a:t>Limits we respect: 5 screens (incl. login and register) and max. 3 Firestore collections.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73152" bIns="73152"/>
          <a:lstStyle/>
          <a:p>
            <a:pPr algn="ctr"/>
            <a:r>
              <a:rPr sz="3200" b="1">
                <a:solidFill>
                  <a:srgbClr val="FFFFFF"/>
                </a:solidFill>
              </a:rPr>
              <a:t>How the app will look</a:t>
            </a:r>
          </a:p>
          <a:p>
            <a:pPr algn="l"/>
            <a:r>
              <a:rPr sz="1500" b="0">
                <a:solidFill>
                  <a:srgbClr val="FDBA74"/>
                </a:solidFill>
              </a:rPr>
              <a:t>5 screens: Login · Register · Workouts · Workout detail/edit · Partners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45442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</a:rPr>
              <a:t>Concept mockups. Login, Register and a temporary Home are built in Lab 1; the rest follow in Labs 2–3.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73152" bIns="73152"/>
          <a:lstStyle/>
          <a:p>
            <a:pPr algn="ctr"/>
            <a:r>
              <a:rPr sz="3200" b="1">
                <a:solidFill>
                  <a:srgbClr val="FFFFFF"/>
                </a:solidFill>
              </a:rPr>
              <a:t>Data model</a:t>
            </a:r>
          </a:p>
          <a:p>
            <a:pPr algn="l"/>
            <a:r>
              <a:rPr sz="1500" b="0">
                <a:solidFill>
                  <a:srgbClr val="FDBA74"/>
                </a:solidFill>
              </a:rPr>
              <a:t>Cloud Firestore · 3 collections · ownerId links every document to its owner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881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69680"/>
              </a:tblGrid>
              <a:tr h="8686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Collection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Fields (type)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</a:rPr>
                        <a:t>uid (doc id) · email (string) · displayName (string) · createdAt (timestamp)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</a:rPr>
                        <a:t>workouts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</a:rPr>
                        <a:t>ownerId (string) · title (string) · type (string) · durationMin (number) · notes (string) · date (timestamp) · createdAt (timestamp)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</a:rPr>
                        <a:t>sessions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</a:rPr>
                        <a:t>ownerId (string) · title (string) · gym (string) · startsAt (timestamp) · maxPeople (number) · participantIds (array of string)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2410C"/>
                </a:solidFill>
              </a:rPr>
              <a:t>Security Rules (Lab 2) make sure users can only edit their own data – enforced in Firebase, not just in the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73152" bIns="73152"/>
          <a:lstStyle/>
          <a:p>
            <a:pPr algn="ctr"/>
            <a:r>
              <a:rPr sz="3200" b="1">
                <a:solidFill>
                  <a:srgbClr val="FFFFFF"/>
                </a:solidFill>
              </a:rPr>
              <a:t>Architecture</a:t>
            </a:r>
          </a:p>
          <a:p>
            <a:pPr algn="l"/>
            <a:r>
              <a:rPr sz="1500" b="0">
                <a:solidFill>
                  <a:srgbClr val="FDBA74"/>
                </a:solidFill>
              </a:rPr>
              <a:t>Screens never talk to Firebase directly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603504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/>
            <a:r>
              <a:rPr sz="2000" b="1">
                <a:solidFill>
                  <a:srgbClr val="C2410C"/>
                </a:solidFill>
              </a:rPr>
              <a:t>UI</a:t>
            </a:r>
          </a:p>
          <a:p>
            <a:pPr algn="l"/>
            <a:r>
              <a:rPr sz="1500" b="0">
                <a:solidFill>
                  <a:srgbClr val="0F172A"/>
                </a:solidFill>
              </a:rPr>
              <a:t>LoginScreen · RegisterScreen · HomeScreen · AppNavHost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80360"/>
            <a:ext cx="603504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/>
            <a:r>
              <a:rPr sz="2000" b="1">
                <a:solidFill>
                  <a:srgbClr val="C2410C"/>
                </a:solidFill>
              </a:rPr>
              <a:t>Logic</a:t>
            </a:r>
          </a:p>
          <a:p>
            <a:pPr algn="l"/>
            <a:r>
              <a:rPr sz="1500" b="0">
                <a:solidFill>
                  <a:srgbClr val="0F172A"/>
                </a:solidFill>
              </a:rPr>
              <a:t>AuthValidator · AuthViewModel (StateFlow)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603504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/>
            <a:r>
              <a:rPr sz="2000" b="1">
                <a:solidFill>
                  <a:srgbClr val="C2410C"/>
                </a:solidFill>
              </a:rPr>
              <a:t>Data</a:t>
            </a:r>
          </a:p>
          <a:p>
            <a:pPr algn="l"/>
            <a:r>
              <a:rPr sz="1500" b="0">
                <a:solidFill>
                  <a:srgbClr val="0F172A"/>
                </a:solidFill>
              </a:rPr>
              <a:t>AuthRepository → FirebaseAuthRepository</a:t>
            </a:r>
          </a:p>
        </p:txBody>
      </p:sp>
      <p:sp>
        <p:nvSpPr>
          <p:cNvPr id="7" name="Down Arrow 6"/>
          <p:cNvSpPr/>
          <p:nvPr/>
        </p:nvSpPr>
        <p:spPr>
          <a:xfrm>
            <a:off x="3429000" y="2606040"/>
            <a:ext cx="457200" cy="274320"/>
          </a:xfrm>
          <a:prstGeom prst="down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3429000" y="3931920"/>
            <a:ext cx="457200" cy="274320"/>
          </a:xfrm>
          <a:prstGeom prst="down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0" y="1554480"/>
            <a:ext cx="3931920" cy="8686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Android app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Kotlin + Jetpack Compose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560320"/>
            <a:ext cx="3931920" cy="86868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Firebase Authentication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email + password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566160"/>
            <a:ext cx="3931920" cy="86868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Cloud Firestore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workouts, sessions,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572000"/>
            <a:ext cx="3931920" cy="86868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Cloud Functions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Lab 3 – weekly stats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</a:rPr>
              <a:t>Why: simple screens, and the logic (e.g. AuthValidator) can be unit-tested on the JVM in Lab 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73152" bIns="73152"/>
          <a:lstStyle/>
          <a:p>
            <a:pPr algn="ctr"/>
            <a:r>
              <a:rPr sz="3200" b="1">
                <a:solidFill>
                  <a:srgbClr val="FFFFFF"/>
                </a:solidFill>
              </a:rPr>
              <a:t>User stories</a:t>
            </a:r>
          </a:p>
          <a:p>
            <a:pPr algn="l"/>
            <a:r>
              <a:rPr sz="1500" b="0">
                <a:solidFill>
                  <a:srgbClr val="FDBA74"/>
                </a:solidFill>
              </a:rPr>
              <a:t>Written as GitHub Issues, in the format required by the lab instructions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94960" cy="4480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ctr"/>
            <a:r>
              <a:rPr sz="1500" b="1">
                <a:solidFill>
                  <a:srgbClr val="0F172A"/>
                </a:solidFill>
              </a:rPr>
              <a:t>Title: As a gym-goer, I want to log in with email and password</a:t>
            </a:r>
          </a:p>
          <a:p>
            <a:pPr algn="l"/>
            <a:r>
              <a:rPr sz="1400" b="0">
                <a:solidFill>
                  <a:srgbClr val="0F172A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0F172A"/>
                </a:solidFill>
              </a:rPr>
              <a:t>User story</a:t>
            </a:r>
          </a:p>
          <a:p>
            <a:pPr algn="l"/>
            <a:r>
              <a:rPr sz="1400" b="0">
                <a:solidFill>
                  <a:srgbClr val="0F172A"/>
                </a:solidFill>
              </a:rPr>
              <a:t>As a gym-goer, I want to log in with my email and password, so that I can access my own workouts.</a:t>
            </a:r>
          </a:p>
          <a:p>
            <a:pPr algn="l"/>
            <a:r>
              <a:rPr sz="1400" b="0">
                <a:solidFill>
                  <a:srgbClr val="0F172A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0F172A"/>
                </a:solidFill>
              </a:rPr>
              <a:t>Acceptance criteria</a:t>
            </a:r>
          </a:p>
          <a:p>
            <a:pPr algn="l"/>
            <a:r>
              <a:rPr sz="1400" b="0">
                <a:solidFill>
                  <a:srgbClr val="0F172A"/>
                </a:solidFill>
              </a:rPr>
              <a:t>☐ Valid credentials open the home screen</a:t>
            </a:r>
          </a:p>
          <a:p>
            <a:pPr algn="l"/>
            <a:r>
              <a:rPr sz="1400" b="0">
                <a:solidFill>
                  <a:srgbClr val="0F172A"/>
                </a:solidFill>
              </a:rPr>
              <a:t>☐ Wrong credentials show an error message</a:t>
            </a:r>
          </a:p>
          <a:p>
            <a:pPr algn="l"/>
            <a:r>
              <a:rPr sz="1400" b="0">
                <a:solidFill>
                  <a:srgbClr val="0F172A"/>
                </a:solidFill>
              </a:rPr>
              <a:t>☐ A logged-in user skips the login screen after restart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F97316"/>
                </a:solidFill>
              </a:rPr>
              <a:t>•  </a:t>
            </a:r>
            <a:r>
              <a:rPr sz="1700" b="1">
                <a:solidFill>
                  <a:srgbClr val="0F172A"/>
                </a:solidFill>
              </a:rPr>
              <a:t>Format:</a:t>
            </a:r>
            <a:r>
              <a:rPr sz="1700" b="0">
                <a:solidFill>
                  <a:srgbClr val="64748B"/>
                </a:solidFill>
              </a:rPr>
              <a:t> title + user story + acceptance criteria checklist.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97316"/>
                </a:solidFill>
              </a:rPr>
              <a:t>•  </a:t>
            </a:r>
            <a:r>
              <a:rPr sz="1700" b="1">
                <a:solidFill>
                  <a:srgbClr val="0F172A"/>
                </a:solidFill>
              </a:rPr>
              <a:t>Labels:</a:t>
            </a:r>
            <a:r>
              <a:rPr sz="1700" b="0">
                <a:solidFill>
                  <a:srgbClr val="64748B"/>
                </a:solidFill>
              </a:rPr>
              <a:t> user-story plus android / firebase / ui.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97316"/>
                </a:solidFill>
              </a:rPr>
              <a:t>•  </a:t>
            </a:r>
            <a:r>
              <a:rPr sz="1700" b="1">
                <a:solidFill>
                  <a:srgbClr val="0F172A"/>
                </a:solidFill>
              </a:rPr>
              <a:t>Board:</a:t>
            </a:r>
            <a:r>
              <a:rPr sz="1700" b="0">
                <a:solidFill>
                  <a:srgbClr val="64748B"/>
                </a:solidFill>
              </a:rPr>
              <a:t> Sprint 1 issues in the Sprint 1 column, others in Backlog; each has an assignee.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97316"/>
                </a:solidFill>
              </a:rPr>
              <a:t>•  </a:t>
            </a:r>
            <a:r>
              <a:rPr sz="1700" b="1">
                <a:solidFill>
                  <a:srgbClr val="0F172A"/>
                </a:solidFill>
              </a:rPr>
              <a:t>Closing:</a:t>
            </a:r>
            <a:r>
              <a:rPr sz="1700" b="0">
                <a:solidFill>
                  <a:srgbClr val="64748B"/>
                </a:solidFill>
              </a:rPr>
              <a:t> the PR says “Closes #issue”, so the issue moves to Done on merge.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73152" bIns="73152"/>
          <a:lstStyle/>
          <a:p>
            <a:pPr algn="ctr"/>
            <a:r>
              <a:rPr sz="3200" b="1">
                <a:solidFill>
                  <a:srgbClr val="FFFFFF"/>
                </a:solidFill>
              </a:rPr>
              <a:t>Sprint 1 backlog</a:t>
            </a:r>
          </a:p>
          <a:p>
            <a:pPr algn="l"/>
            <a:r>
              <a:rPr sz="1500" b="0">
                <a:solidFill>
                  <a:srgbClr val="FDBA74"/>
                </a:solidFill>
              </a:rPr>
              <a:t>Each story has acceptance criteria and an assignee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3566160"/>
                <a:gridCol w="1280160"/>
              </a:tblGrid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User story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Labels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Assignee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</a:rPr>
                        <a:t>As a gym-goer, I want to register and log in with email and password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</a:rPr>
                        <a:t>user-story · android · firebase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</a:rPr>
                        <a:t>Ozodbek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</a:rPr>
                        <a:t>As a gym-goer, I want to see a list of my workouts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</a:rPr>
                        <a:t>user-story · android ·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</a:rPr>
                        <a:t>Elturan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</a:rPr>
                        <a:t>As a gym-goer, I want to add a workout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</a:rPr>
                        <a:t>user-story · android · firebase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</a:rPr>
                        <a:t>Aida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</a:rPr>
                        <a:t>As a gym-goer, I want to edit or delete a workout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</a:rPr>
                        <a:t>user-story · android · firebase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</a:rPr>
                        <a:t>Elturan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</a:rPr>
              <a:t>Backlog: weekly stats Cloud Function, find a partner (sessions).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73152" bIns="73152"/>
          <a:lstStyle/>
          <a:p>
            <a:pPr algn="ctr"/>
            <a:r>
              <a:rPr sz="3200" b="1">
                <a:solidFill>
                  <a:srgbClr val="FFFFFF"/>
                </a:solidFill>
              </a:rPr>
              <a:t>Team and roles</a:t>
            </a:r>
          </a:p>
          <a:p>
            <a:pPr algn="l"/>
            <a:r>
              <a:rPr sz="1500" b="0">
                <a:solidFill>
                  <a:srgbClr val="FDBA74"/>
                </a:solidFill>
              </a:rPr>
              <a:t>Everyone writes code – roles say who is accountable for a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474720" cy="3931920"/>
          </a:xfrm>
          <a:prstGeom prst="roundRect">
            <a:avLst/>
          </a:prstGeom>
          <a:solidFill>
            <a:srgbClr val="F1F5F9"/>
          </a:solidFill>
          <a:ln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/>
            <a:r>
              <a:rPr sz="2200" b="1">
                <a:solidFill>
                  <a:srgbClr val="0F172A"/>
                </a:solidFill>
              </a:rPr>
              <a:t>Aida Ismayilova</a:t>
            </a:r>
          </a:p>
          <a:p>
            <a:pPr algn="l"/>
            <a:r>
              <a:rPr sz="1400" b="0">
                <a:solidFill>
                  <a:srgbClr val="64748B"/>
                </a:solidFill>
              </a:rPr>
              <a:t>Student ID 57689</a:t>
            </a:r>
          </a:p>
          <a:p>
            <a:pPr algn="l">
              <a:spcBef>
                <a:spcPts val="1400"/>
              </a:spcBef>
            </a:pPr>
            <a:r>
              <a:rPr sz="1800" b="1">
                <a:solidFill>
                  <a:srgbClr val="C2410C"/>
                </a:solidFill>
              </a:rPr>
              <a:t>Product Owner + Developer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0F172A"/>
                </a:solidFill>
              </a:rPr>
              <a:t>Problem statement, MVP, user stories and priorities; owns the board content.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74720" cy="3931920"/>
          </a:xfrm>
          <a:prstGeom prst="roundRect">
            <a:avLst/>
          </a:prstGeom>
          <a:solidFill>
            <a:srgbClr val="F1F5F9"/>
          </a:solidFill>
          <a:ln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/>
            <a:r>
              <a:rPr sz="2200" b="1">
                <a:solidFill>
                  <a:srgbClr val="0F172A"/>
                </a:solidFill>
              </a:rPr>
              <a:t>Ozodbek Tursunaliyev</a:t>
            </a:r>
          </a:p>
          <a:p>
            <a:pPr algn="l"/>
            <a:r>
              <a:rPr sz="1400" b="0">
                <a:solidFill>
                  <a:srgbClr val="64748B"/>
                </a:solidFill>
              </a:rPr>
              <a:t>Student ID 57264</a:t>
            </a:r>
          </a:p>
          <a:p>
            <a:pPr algn="l">
              <a:spcBef>
                <a:spcPts val="1400"/>
              </a:spcBef>
            </a:pPr>
            <a:r>
              <a:rPr sz="1800" b="1">
                <a:solidFill>
                  <a:srgbClr val="C2410C"/>
                </a:solidFill>
              </a:rPr>
              <a:t>Tech Lead + Developer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0F172A"/>
                </a:solidFill>
              </a:rPr>
              <a:t>Data model, architecture, Android and Firebase setup, auth feature.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74720" cy="3931920"/>
          </a:xfrm>
          <a:prstGeom prst="roundRect">
            <a:avLst/>
          </a:prstGeom>
          <a:solidFill>
            <a:srgbClr val="F1F5F9"/>
          </a:solidFill>
          <a:ln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/>
            <a:r>
              <a:rPr sz="2200" b="1">
                <a:solidFill>
                  <a:srgbClr val="0F172A"/>
                </a:solidFill>
              </a:rPr>
              <a:t>Elturan Valizada</a:t>
            </a:r>
          </a:p>
          <a:p>
            <a:pPr algn="l"/>
            <a:r>
              <a:rPr sz="1400" b="0">
                <a:solidFill>
                  <a:srgbClr val="64748B"/>
                </a:solidFill>
              </a:rPr>
              <a:t>Student ID 58990</a:t>
            </a:r>
          </a:p>
          <a:p>
            <a:pPr algn="l">
              <a:spcBef>
                <a:spcPts val="1400"/>
              </a:spcBef>
            </a:pPr>
            <a:r>
              <a:rPr sz="1800" b="1">
                <a:solidFill>
                  <a:srgbClr val="C2410C"/>
                </a:solidFill>
              </a:rPr>
              <a:t>QA / DevOps + Developer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0F172A"/>
                </a:solidFill>
              </a:rPr>
              <a:t>Repository, branch ruleset, PR reviews, board hygiene, 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</a:rPr>
              <a:t>Three people cover four roles: all three are Developers; the commit history will show everyone.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73152" bIns="73152"/>
          <a:lstStyle/>
          <a:p>
            <a:pPr algn="ctr"/>
            <a:r>
              <a:rPr sz="3200" b="1">
                <a:solidFill>
                  <a:srgbClr val="FFFFFF"/>
                </a:solidFill>
              </a:rPr>
              <a:t>Our GitHub workflow</a:t>
            </a:r>
          </a:p>
          <a:p>
            <a:pPr algn="l"/>
            <a:r>
              <a:rPr sz="1500" b="0">
                <a:solidFill>
                  <a:srgbClr val="FDBA74"/>
                </a:solidFill>
              </a:rPr>
              <a:t>How we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783080" cy="118872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Issue on the 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828800"/>
            <a:ext cx="1783080" cy="11887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Feature branch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1783080" cy="118872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Small commits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1783080" cy="11887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Pull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1783080" cy="118872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Review + approve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828800"/>
            <a:ext cx="1783080" cy="11887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Squash merge →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F97316"/>
                </a:solidFill>
              </a:rPr>
              <a:t>•  </a:t>
            </a:r>
            <a:r>
              <a:rPr sz="1900" b="1">
                <a:solidFill>
                  <a:srgbClr val="0F172A"/>
                </a:solidFill>
              </a:rPr>
              <a:t>Protected main:</a:t>
            </a:r>
            <a:r>
              <a:rPr sz="1900" b="0">
                <a:solidFill>
                  <a:srgbClr val="64748B"/>
                </a:solidFill>
              </a:rPr>
              <a:t> ruleset protect-main – pull request required, no force push, no deletion.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F97316"/>
                </a:solidFill>
              </a:rPr>
              <a:t>•  </a:t>
            </a:r>
            <a:r>
              <a:rPr sz="1900" b="1">
                <a:solidFill>
                  <a:srgbClr val="0F172A"/>
                </a:solidFill>
              </a:rPr>
              <a:t>Board columns:</a:t>
            </a:r>
            <a:r>
              <a:rPr sz="1900" b="0">
                <a:solidFill>
                  <a:srgbClr val="64748B"/>
                </a:solidFill>
              </a:rPr>
              <a:t> Backlog · Sprint 1 · In progress · In review · Done.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F97316"/>
                </a:solidFill>
              </a:rPr>
              <a:t>•  </a:t>
            </a:r>
            <a:r>
              <a:rPr sz="1900" b="1">
                <a:solidFill>
                  <a:srgbClr val="0F172A"/>
                </a:solidFill>
              </a:rPr>
              <a:t>Templates:</a:t>
            </a:r>
            <a:r>
              <a:rPr sz="1900" b="0">
                <a:solidFill>
                  <a:srgbClr val="64748B"/>
                </a:solidFill>
              </a:rPr>
              <a:t> pull request template with “Closes #issue” and a test checklist.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F97316"/>
                </a:solidFill>
              </a:rPr>
              <a:t>•  </a:t>
            </a:r>
            <a:r>
              <a:rPr sz="1900" b="1">
                <a:solidFill>
                  <a:srgbClr val="0F172A"/>
                </a:solidFill>
              </a:rPr>
              <a:t>Goal:</a:t>
            </a:r>
            <a:r>
              <a:rPr sz="1900" b="0">
                <a:solidFill>
                  <a:srgbClr val="64748B"/>
                </a:solidFill>
              </a:rPr>
              <a:t> at least two merged PRs, each reviewed by a teammate.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73152" bIns="73152"/>
          <a:lstStyle/>
          <a:p>
            <a:pPr algn="ctr"/>
            <a:r>
              <a:rPr sz="3200" b="1">
                <a:solidFill>
                  <a:srgbClr val="FFFFFF"/>
                </a:solidFill>
              </a:rPr>
              <a:t>Demo plan (3 minutes)</a:t>
            </a:r>
          </a:p>
          <a:p>
            <a:pPr algn="l"/>
            <a:r>
              <a:rPr sz="1500" b="0">
                <a:solidFill>
                  <a:srgbClr val="FDBA74"/>
                </a:solidFill>
              </a:rPr>
              <a:t>Who shows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772400"/>
              </a:tblGrid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Who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Shows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Aida (Product Owner)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Problem statement and MVP features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Ozodbek (Tech Lead)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Data model and architecture diagram, then the live demo: register → logout → login → restart with auto-login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Elturan (QA / DevOps)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</a:rPr>
                        <a:t>Board, merged PRs with review comments, branch ruleset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0292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F97316"/>
                </a:solidFill>
              </a:rPr>
              <a:t>•  </a:t>
            </a:r>
            <a:r>
              <a:rPr sz="1800" b="0">
                <a:solidFill>
                  <a:srgbClr val="0F172A"/>
                </a:solidFill>
              </a:rPr>
              <a:t>Expected question: “Where do you check that a user only edits their own data?” → In Firebase Security Rules (Lab 2), not only in the app.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73152" bIns="73152"/>
          <a:lstStyle/>
          <a:p>
            <a:pPr algn="ctr"/>
            <a:r>
              <a:rPr sz="3200" b="1">
                <a:solidFill>
                  <a:srgbClr val="FFFFFF"/>
                </a:solidFill>
              </a:rPr>
              <a:t>What's next</a:t>
            </a:r>
          </a:p>
          <a:p>
            <a:pPr algn="l"/>
            <a:r>
              <a:rPr sz="1500" b="0">
                <a:solidFill>
                  <a:srgbClr val="FDBA74"/>
                </a:solidFill>
              </a:rPr>
              <a:t>Lab 1 delivers the walking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97316"/>
                </a:solidFill>
              </a:rPr>
              <a:t>•  </a:t>
            </a:r>
            <a:r>
              <a:rPr sz="2200" b="1">
                <a:solidFill>
                  <a:srgbClr val="0F172A"/>
                </a:solidFill>
              </a:rPr>
              <a:t>Lab 1:</a:t>
            </a:r>
            <a:r>
              <a:rPr sz="2200" b="0">
                <a:solidFill>
                  <a:srgbClr val="64748B"/>
                </a:solidFill>
              </a:rPr>
              <a:t> repo, board, Firebase project, register / login / logout / auto-login.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97316"/>
                </a:solidFill>
              </a:rPr>
              <a:t>•  </a:t>
            </a:r>
            <a:r>
              <a:rPr sz="2200" b="1">
                <a:solidFill>
                  <a:srgbClr val="0F172A"/>
                </a:solidFill>
              </a:rPr>
              <a:t>Lab 2:</a:t>
            </a:r>
            <a:r>
              <a:rPr sz="2200" b="0">
                <a:solidFill>
                  <a:srgbClr val="64748B"/>
                </a:solidFill>
              </a:rPr>
              <a:t> workouts in Firestore – list, add, edit, delete – and Security Rules.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97316"/>
                </a:solidFill>
              </a:rPr>
              <a:t>•  </a:t>
            </a:r>
            <a:r>
              <a:rPr sz="2200" b="1">
                <a:solidFill>
                  <a:srgbClr val="0F172A"/>
                </a:solidFill>
              </a:rPr>
              <a:t>Lab 3:</a:t>
            </a:r>
            <a:r>
              <a:rPr sz="2200" b="0">
                <a:solidFill>
                  <a:srgbClr val="64748B"/>
                </a:solidFill>
              </a:rPr>
              <a:t> Cloud Function for weekly stats, unit tests for the validator.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97316"/>
                </a:solidFill>
              </a:rPr>
              <a:t>•  </a:t>
            </a:r>
            <a:r>
              <a:rPr sz="2200" b="1">
                <a:solidFill>
                  <a:srgbClr val="0F172A"/>
                </a:solidFill>
              </a:rPr>
              <a:t>Retro – Lab 1:</a:t>
            </a:r>
            <a:r>
              <a:rPr sz="2200" b="0">
                <a:solidFill>
                  <a:srgbClr val="64748B"/>
                </a:solidFill>
              </a:rPr>
              <a:t> one issue, every member comments: went well / did not go well / we will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C2410C"/>
                </a:solidFill>
              </a:rPr>
              <a:t>Thank you –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